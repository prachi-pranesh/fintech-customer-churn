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105156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Fintech Customer Churn &amp;</a:t>
            </a:r>
            <a:br/>
            <a:r>
              <a:t>Retention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1EFFF"/>
                </a:solidFill>
              </a:defRPr>
            </a:pPr>
            <a:r>
              <a:t>Predictive Risk Segmentation &amp; Retention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2120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SQL  •  Python / Machine Learning  •  Power BI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A data-driven approach to identify and prioritize customer churn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240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81912"/>
            <a:ext cx="1911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267BE"/>
                </a:solidFill>
              </a:defRPr>
            </a:pPr>
            <a:r>
              <a:t>10,000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148840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417320"/>
            <a:ext cx="2240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581912"/>
            <a:ext cx="1911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BE3741"/>
                </a:solidFill>
              </a:defRPr>
            </a:pPr>
            <a:r>
              <a:t>20.37%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148840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Overall churn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17320"/>
            <a:ext cx="2240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65392" y="1581912"/>
            <a:ext cx="1911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C872D"/>
                </a:solidFill>
              </a:defRPr>
            </a:pPr>
            <a:r>
              <a:t>2,037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148840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Churned customers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1417320"/>
            <a:ext cx="2240280" cy="141732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1581912"/>
            <a:ext cx="19110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BE3741"/>
                </a:solidFill>
              </a:defRPr>
            </a:pPr>
            <a:r>
              <a:t>84.9%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45752" y="2148840"/>
            <a:ext cx="19110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High-risk observed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10698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Germany has the highest observed churn rate at 32.44%, versus 16.67% in Spain and 16.15% in France.</a:t>
            </a:r>
          </a:p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Age is the strongest Random Forest feature, with 25.19% feature importance.</a:t>
            </a:r>
          </a:p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A 30% churn-probability threshold captures about 65% of actual churners on the held-out test set.</a:t>
            </a:r>
          </a:p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443 of 2,000 held-out test customers are flagged for retention at the ≥30% threshold.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Move from retrospective churn reporting to proactive retention prioritization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9192D"/>
                </a:solidFill>
              </a:defRPr>
            </a:pPr>
            <a:r>
              <a:t>• Identify customer characteristics and segments associated with elevated churn.</a:t>
            </a:r>
          </a:p>
          <a:p>
            <a:pPr>
              <a:spcAft>
                <a:spcPts val="1200"/>
              </a:spcAft>
              <a:defRPr sz="1800">
                <a:solidFill>
                  <a:srgbClr val="09192D"/>
                </a:solidFill>
              </a:defRPr>
            </a:pPr>
            <a:r>
              <a:t>• Build a predictive model that ranks customers by likelihood of churn.</a:t>
            </a:r>
          </a:p>
          <a:p>
            <a:pPr>
              <a:spcAft>
                <a:spcPts val="1200"/>
              </a:spcAft>
              <a:defRPr sz="1800">
                <a:solidFill>
                  <a:srgbClr val="09192D"/>
                </a:solidFill>
              </a:defRPr>
            </a:pPr>
            <a:r>
              <a:t>• Translate model outputs into operational risk segments.</a:t>
            </a:r>
          </a:p>
          <a:p>
            <a:pPr>
              <a:spcAft>
                <a:spcPts val="1200"/>
              </a:spcAft>
              <a:defRPr sz="1800">
                <a:solidFill>
                  <a:srgbClr val="09192D"/>
                </a:solidFill>
              </a:defRPr>
            </a:pPr>
            <a:r>
              <a:t>• Recommend where retention teams should focus limited outreach and engagement resources.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1828800" cy="822960"/>
          </a:xfrm>
          <a:prstGeom prst="roundRect">
            <a:avLst/>
          </a:prstGeom>
          <a:solidFill>
            <a:srgbClr val="E1EFFF"/>
          </a:solidFill>
          <a:ln>
            <a:solidFill>
              <a:srgbClr val="22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Customer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94760" y="4206240"/>
            <a:ext cx="1828800" cy="822960"/>
          </a:xfrm>
          <a:prstGeom prst="roundRect">
            <a:avLst/>
          </a:prstGeom>
          <a:solidFill>
            <a:srgbClr val="E1EFFF"/>
          </a:solidFill>
          <a:ln>
            <a:solidFill>
              <a:srgbClr val="22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SQL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4206240"/>
            <a:ext cx="1828800" cy="822960"/>
          </a:xfrm>
          <a:prstGeom prst="roundRect">
            <a:avLst/>
          </a:prstGeom>
          <a:solidFill>
            <a:srgbClr val="E1EFFF"/>
          </a:solidFill>
          <a:ln>
            <a:solidFill>
              <a:srgbClr val="22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ML risk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4206240"/>
            <a:ext cx="1828800" cy="822960"/>
          </a:xfrm>
          <a:prstGeom prst="roundRect">
            <a:avLst/>
          </a:prstGeom>
          <a:solidFill>
            <a:srgbClr val="E1EFFF"/>
          </a:solidFill>
          <a:ln>
            <a:solidFill>
              <a:srgbClr val="22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Retention 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Key Churn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Descriptive analysis revealed several actionable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9192D"/>
                </a:solidFill>
              </a:defRPr>
            </a:pPr>
            <a:r>
              <a:t>Age 50–59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44168"/>
            <a:ext cx="6583680" cy="2286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344168"/>
            <a:ext cx="6149157" cy="228600"/>
          </a:xfrm>
          <a:prstGeom prst="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1298448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92D"/>
                </a:solidFill>
              </a:defRPr>
            </a:pPr>
            <a:r>
              <a:t>56.0%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75688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9192D"/>
                </a:solidFill>
              </a:defRPr>
            </a:pPr>
            <a:r>
              <a:t>Germany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2093976"/>
            <a:ext cx="6583680" cy="2286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0" y="2093976"/>
            <a:ext cx="3559576" cy="228600"/>
          </a:xfrm>
          <a:prstGeom prst="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048256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92D"/>
                </a:solidFill>
              </a:defRPr>
            </a:pPr>
            <a:r>
              <a:t>32.4%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25496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9192D"/>
                </a:solidFill>
              </a:defRPr>
            </a:pPr>
            <a:r>
              <a:t>Age 40–49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2843784"/>
            <a:ext cx="6583680" cy="2286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843784"/>
            <a:ext cx="3378525" cy="228600"/>
          </a:xfrm>
          <a:prstGeom prst="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2798064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92D"/>
                </a:solidFill>
              </a:defRPr>
            </a:pPr>
            <a:r>
              <a:t>30.8%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75303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9192D"/>
                </a:solidFill>
              </a:defRPr>
            </a:pPr>
            <a:r>
              <a:t>1 product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593591"/>
            <a:ext cx="6583680" cy="2286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593591"/>
            <a:ext cx="3040562" cy="228600"/>
          </a:xfrm>
          <a:prstGeom prst="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354787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92D"/>
                </a:solidFill>
              </a:defRPr>
            </a:pPr>
            <a:r>
              <a:t>27.7%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25112"/>
            <a:ext cx="1920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09192D"/>
                </a:solidFill>
              </a:defRPr>
            </a:pPr>
            <a:r>
              <a:t>Inactive members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4343399"/>
            <a:ext cx="6583680" cy="2286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0" y="4343399"/>
            <a:ext cx="2946196" cy="228600"/>
          </a:xfrm>
          <a:prstGeom prst="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4297679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9192D"/>
                </a:solidFill>
              </a:defRPr>
            </a:pPr>
            <a:r>
              <a:t>26.9%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30352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9192D"/>
                </a:solidFill>
              </a:defRPr>
            </a:pPr>
            <a:r>
              <a:t>• Credit-card ownership and tenure showed relatively weak differentiation in the SQL analysis.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Predictive 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Random Forest substantially improved churn identification over the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256032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1325880"/>
            <a:ext cx="329184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223760" y="1325880"/>
            <a:ext cx="329184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Random Forest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1783080"/>
            <a:ext cx="2560320" cy="502920"/>
          </a:xfrm>
          <a:prstGeom prst="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Accuracy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0" y="178308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80.8%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0" y="178308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86.0%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286000"/>
            <a:ext cx="2560320" cy="502920"/>
          </a:xfrm>
          <a:prstGeom prst="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Churn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2860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59%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228600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79%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788920"/>
            <a:ext cx="2560320" cy="502920"/>
          </a:xfrm>
          <a:prstGeom prst="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Churn recall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8892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18.7%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2788920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44%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291839"/>
            <a:ext cx="2560320" cy="502920"/>
          </a:xfrm>
          <a:prstGeom prst="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Churn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3291839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28%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3291839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57%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794759"/>
            <a:ext cx="2560320" cy="502920"/>
          </a:xfrm>
          <a:prstGeom prst="rect">
            <a:avLst/>
          </a:prstGeom>
          <a:solidFill>
            <a:srgbClr val="F2F5F8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ROC-AUC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3794759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0.7748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794759"/>
            <a:ext cx="3291840" cy="50292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09192D"/>
                </a:solidFill>
              </a:defRPr>
            </a:pPr>
            <a:r>
              <a:t>0.8549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9192D"/>
                </a:solidFill>
              </a:defRPr>
            </a:pPr>
            <a:r>
              <a:t>• Random Forest improved churn recall from 18.7% to 44% at the default 0.50 threshold.</a:t>
            </a:r>
          </a:p>
          <a:p>
            <a:pPr>
              <a:spcAft>
                <a:spcPts val="1200"/>
              </a:spcAft>
              <a:defRPr sz="1500">
                <a:solidFill>
                  <a:srgbClr val="09192D"/>
                </a:solidFill>
              </a:defRPr>
            </a:pPr>
            <a:r>
              <a:t>• ROC-AUC increased from 0.7748 to 0.8549.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Intervention Threshold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Lowering the threshold increases the number of churners identified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280160"/>
            <a:ext cx="228600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280160"/>
            <a:ext cx="182880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760720" y="1280160"/>
            <a:ext cx="182880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1280160"/>
            <a:ext cx="1828800" cy="457200"/>
          </a:xfrm>
          <a:prstGeom prst="rect">
            <a:avLst/>
          </a:prstGeom>
          <a:solidFill>
            <a:srgbClr val="09192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F1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173736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7373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47%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7373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78%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17373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0.59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214884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21488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52%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21488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71%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1488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2560320"/>
            <a:ext cx="2286000" cy="411480"/>
          </a:xfrm>
          <a:prstGeom prst="rect">
            <a:avLst/>
          </a:prstGeom>
          <a:solidFill>
            <a:srgbClr val="E1E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192D"/>
                </a:solidFill>
              </a:defRPr>
            </a:pPr>
            <a:r>
              <a:t>0.30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2560320"/>
            <a:ext cx="1828800" cy="411480"/>
          </a:xfrm>
          <a:prstGeom prst="rect">
            <a:avLst/>
          </a:prstGeom>
          <a:solidFill>
            <a:srgbClr val="E1E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192D"/>
                </a:solidFill>
              </a:defRPr>
            </a:pPr>
            <a:r>
              <a:t>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60720" y="2560320"/>
            <a:ext cx="1828800" cy="411480"/>
          </a:xfrm>
          <a:prstGeom prst="rect">
            <a:avLst/>
          </a:prstGeom>
          <a:solidFill>
            <a:srgbClr val="E1E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192D"/>
                </a:solidFill>
              </a:defRPr>
            </a:pPr>
            <a:r>
              <a:t>65%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560320"/>
            <a:ext cx="1828800" cy="411480"/>
          </a:xfrm>
          <a:prstGeom prst="rect">
            <a:avLst/>
          </a:prstGeom>
          <a:solidFill>
            <a:srgbClr val="E1E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9192D"/>
                </a:solidFill>
              </a:defRPr>
            </a:pPr>
            <a:r>
              <a:t>0.63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297180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0.35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297180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64%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97180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58%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97180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0.61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338328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0" y="338328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70%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338328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54%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38328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0.61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" y="379476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0.45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37947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75%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7947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50%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79476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0.60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4206240"/>
            <a:ext cx="22860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0.50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42062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78%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60720" y="42062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45%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206240"/>
            <a:ext cx="1828800" cy="411480"/>
          </a:xfrm>
          <a:prstGeom prst="rect">
            <a:avLst/>
          </a:prstGeom>
          <a:solidFill>
            <a:srgbClr val="FFFFFF"/>
          </a:solidFill>
          <a:ln>
            <a:solidFill>
              <a:srgbClr val="E1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09192D"/>
                </a:solidFill>
              </a:defRPr>
            </a:pPr>
            <a:r>
              <a:t>0.57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75520" y="2103120"/>
            <a:ext cx="1554480" cy="123444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40112" y="2267712"/>
            <a:ext cx="1225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267BE"/>
                </a:solidFill>
              </a:defRPr>
            </a:pPr>
            <a:r>
              <a:t>0.30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40112" y="2834639"/>
            <a:ext cx="1225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Selected threshold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9204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09192D"/>
                </a:solidFill>
              </a:defRPr>
            </a:pPr>
            <a:r>
              <a:t>• 0.30 delivers 65% recall and the highest F1-score (0.63) among tested thresholds.</a:t>
            </a:r>
          </a:p>
          <a:p>
            <a:pPr>
              <a:spcAft>
                <a:spcPts val="1200"/>
              </a:spcAft>
              <a:defRPr sz="1500">
                <a:solidFill>
                  <a:srgbClr val="09192D"/>
                </a:solidFill>
              </a:defRPr>
            </a:pPr>
            <a:r>
              <a:t>• 443 of 2,000 held-out test customers are flagged at ≥30% probability.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Customer Risk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Predicted risk separates customers into materially different observed churn groups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17320"/>
            <a:ext cx="24688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81912"/>
            <a:ext cx="21396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2D8755"/>
                </a:solidFill>
              </a:defRPr>
            </a:pPr>
            <a:r>
              <a:t>1,560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148840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Low risk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417320"/>
            <a:ext cx="24688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581912"/>
            <a:ext cx="21396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DC872D"/>
                </a:solidFill>
              </a:defRPr>
            </a:pPr>
            <a:r>
              <a:t>274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148840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Medium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417320"/>
            <a:ext cx="2468880" cy="1371600"/>
          </a:xfrm>
          <a:prstGeom prst="roundRect">
            <a:avLst/>
          </a:prstGeom>
          <a:solidFill>
            <a:srgbClr val="F2F5F8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581912"/>
            <a:ext cx="2139696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 b="1">
                <a:solidFill>
                  <a:srgbClr val="BE3741"/>
                </a:solidFill>
              </a:defRPr>
            </a:pPr>
            <a:r>
              <a:t>166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2148840"/>
            <a:ext cx="2139696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978"/>
                </a:solidFill>
              </a:defRPr>
            </a:pPr>
            <a:r>
              <a:t>High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971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9.1% observed churn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971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45.3% observed churn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2971800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9192D"/>
                </a:solidFill>
              </a:defRPr>
            </a:pPr>
            <a:r>
              <a:t>84.9% observed churn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794760"/>
            <a:ext cx="10058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High-risk customers show dramatically higher observed churn than low-risk customers.</a:t>
            </a:r>
          </a:p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The segmentation provides a practical prioritization layer for retention operations.</a:t>
            </a:r>
          </a:p>
          <a:p>
            <a:pPr>
              <a:spcAft>
                <a:spcPts val="1200"/>
              </a:spcAft>
              <a:defRPr sz="1600">
                <a:solidFill>
                  <a:srgbClr val="09192D"/>
                </a:solidFill>
              </a:defRPr>
            </a:pPr>
            <a:r>
              <a:t>• Risk scores are prioritization signals, not causal explanations.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Retention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Translate the risk model into focused operational interventions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914400" cy="594360"/>
          </a:xfrm>
          <a:prstGeom prst="roundRect">
            <a:avLst/>
          </a:prstGeom>
          <a:solidFill>
            <a:srgbClr val="BE3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1216152"/>
            <a:ext cx="9326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92D"/>
                </a:solidFill>
              </a:defRPr>
            </a:pPr>
            <a:r>
              <a:t>Prioritize high-risk customers</a:t>
            </a:r>
          </a:p>
          <a:p>
            <a:pPr>
              <a:defRPr sz="1200">
                <a:solidFill>
                  <a:srgbClr val="5A6978"/>
                </a:solidFill>
              </a:defRPr>
            </a:pPr>
            <a:r>
              <a:t>Use the ≥30% probability threshold to create a focused retention queue.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13432"/>
            <a:ext cx="914400" cy="594360"/>
          </a:xfrm>
          <a:prstGeom prst="roundRect">
            <a:avLst/>
          </a:prstGeom>
          <a:solidFill>
            <a:srgbClr val="DC8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2295144"/>
            <a:ext cx="9326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92D"/>
                </a:solidFill>
              </a:defRPr>
            </a:pPr>
            <a:r>
              <a:t>Re-engage inactive customers</a:t>
            </a:r>
          </a:p>
          <a:p>
            <a:pPr>
              <a:defRPr sz="1200">
                <a:solidFill>
                  <a:srgbClr val="5A6978"/>
                </a:solidFill>
              </a:defRPr>
            </a:pPr>
            <a:r>
              <a:t>Prioritize customers who are both disengaged and likely to leave.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92424"/>
            <a:ext cx="914400" cy="594360"/>
          </a:xfrm>
          <a:prstGeom prst="roundRect">
            <a:avLst/>
          </a:prstGeom>
          <a:solidFill>
            <a:srgbClr val="2267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3374136"/>
            <a:ext cx="9326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92D"/>
                </a:solidFill>
              </a:defRPr>
            </a:pPr>
            <a:r>
              <a:t>Deepen product adoption</a:t>
            </a:r>
          </a:p>
          <a:p>
            <a:pPr>
              <a:defRPr sz="1200">
                <a:solidFill>
                  <a:srgbClr val="5A6978"/>
                </a:solidFill>
              </a:defRPr>
            </a:pPr>
            <a:r>
              <a:t>Target elevated-risk 1-product customers with relevant feature discovery and cross-sell journeys.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71416"/>
            <a:ext cx="914400" cy="594360"/>
          </a:xfrm>
          <a:prstGeom prst="roundRect">
            <a:avLst/>
          </a:prstGeom>
          <a:solidFill>
            <a:srgbClr val="2D8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4453128"/>
            <a:ext cx="93268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9192D"/>
                </a:solidFill>
              </a:defRPr>
            </a:pPr>
            <a:r>
              <a:t>Investigate Germany-specific friction</a:t>
            </a:r>
          </a:p>
          <a:p>
            <a:pPr>
              <a:defRPr sz="1200">
                <a:solidFill>
                  <a:srgbClr val="5A6978"/>
                </a:solidFill>
              </a:defRPr>
            </a:pPr>
            <a:r>
              <a:t>Germany's 32.44% churn rate warrants localized investigation of experience and customer needs.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6576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9192D"/>
                </a:solidFill>
              </a:defRPr>
            </a:pPr>
            <a:r>
              <a:t>Business Impact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6978"/>
                </a:solidFill>
              </a:defRPr>
            </a:pPr>
            <a:r>
              <a:t>From analysis to measurable retention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9192D"/>
                </a:solidFill>
              </a:defRPr>
            </a:pPr>
            <a:r>
              <a:t>• Prioritize retention capacity around a defined, model-driven customer pool.</a:t>
            </a:r>
          </a:p>
          <a:p>
            <a:pPr>
              <a:spcAft>
                <a:spcPts val="1200"/>
              </a:spcAft>
              <a:defRPr sz="1700">
                <a:solidFill>
                  <a:srgbClr val="09192D"/>
                </a:solidFill>
              </a:defRPr>
            </a:pPr>
            <a:r>
              <a:t>• Use risk segmentation to support differentiated customer journeys.</a:t>
            </a:r>
          </a:p>
          <a:p>
            <a:pPr>
              <a:spcAft>
                <a:spcPts val="1200"/>
              </a:spcAft>
              <a:defRPr sz="1700">
                <a:solidFill>
                  <a:srgbClr val="09192D"/>
                </a:solidFill>
              </a:defRPr>
            </a:pPr>
            <a:r>
              <a:t>• Track retention conversion, churn reduction and campaign economics by segment.</a:t>
            </a:r>
          </a:p>
          <a:p>
            <a:pPr>
              <a:spcAft>
                <a:spcPts val="1200"/>
              </a:spcAft>
              <a:defRPr sz="1700">
                <a:solidFill>
                  <a:srgbClr val="09192D"/>
                </a:solidFill>
              </a:defRPr>
            </a:pPr>
            <a:r>
              <a:t>• Feed campaign outcomes back into the model to improve future prioritization.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17320"/>
            <a:ext cx="4663440" cy="4069080"/>
          </a:xfrm>
          <a:prstGeom prst="roundRect">
            <a:avLst/>
          </a:prstGeom>
          <a:solidFill>
            <a:srgbClr val="E1EFFF"/>
          </a:solidFill>
          <a:ln>
            <a:solidFill>
              <a:srgbClr val="2267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1783080"/>
            <a:ext cx="39319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09192D"/>
                </a:solidFill>
              </a:defRPr>
            </a:pPr>
            <a:r>
              <a:t>Dataset: 10,000 customer records</a:t>
            </a:r>
          </a:p>
          <a:p>
            <a:pPr>
              <a:spcAft>
                <a:spcPts val="1400"/>
              </a:spcAft>
              <a:defRPr sz="1400">
                <a:solidFill>
                  <a:srgbClr val="09192D"/>
                </a:solidFill>
              </a:defRPr>
            </a:pPr>
            <a:r>
              <a:t>Model: Random Forest • ROC-AUC 0.8549</a:t>
            </a:r>
          </a:p>
          <a:p>
            <a:pPr>
              <a:spcAft>
                <a:spcPts val="1400"/>
              </a:spcAft>
              <a:defRPr sz="1400">
                <a:solidFill>
                  <a:srgbClr val="09192D"/>
                </a:solidFill>
              </a:defRPr>
            </a:pPr>
            <a:r>
              <a:t>Intervention: 30% churn-probability threshold</a:t>
            </a:r>
          </a:p>
          <a:p>
            <a:pPr>
              <a:spcAft>
                <a:spcPts val="1400"/>
              </a:spcAft>
              <a:defRPr sz="1400">
                <a:solidFill>
                  <a:srgbClr val="09192D"/>
                </a:solidFill>
              </a:defRPr>
            </a:pPr>
            <a:r>
              <a:t>Dashboard: Power BI risk &amp; segmentation</a:t>
            </a:r>
          </a:p>
          <a:p>
            <a:pPr>
              <a:spcAft>
                <a:spcPts val="1400"/>
              </a:spcAft>
              <a:defRPr sz="1400">
                <a:solidFill>
                  <a:srgbClr val="09192D"/>
                </a:solidFill>
              </a:defRPr>
            </a:pPr>
            <a:r>
              <a:t>Next phase: A/B test interventions and measure ROI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A69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